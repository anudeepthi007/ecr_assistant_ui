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971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640080" y="548640"/>
            <a:ext cx="3108960" cy="542023"/>
          </a:xfrm>
          <a:prstGeom prst="rect">
            <a:avLst/>
          </a:prstGeom>
        </p:spPr>
      </p:pic>
      <p:sp>
        <p:nvSpPr>
          <p:cNvPr id="3" name="Text 0"/>
          <p:cNvSpPr txBox="1"/>
          <p:nvPr/>
        </p:nvSpPr>
        <p:spPr>
          <a:xfrm>
            <a:off x="640080" y="2103120"/>
            <a:ext cx="7315200" cy="914400"/>
          </a:xfrm>
          <a:prstGeom prst="rect">
            <a:avLst/>
          </a:prstGeom>
          <a:noFill/>
          <a:ln/>
        </p:spPr>
        <p:txBody>
          <a:bodyPr wrap="square" lIns="0" tIns="0" rIns="0" bIns="0" rtlCol="0" anchor="t"/>
          <a:lstStyle/>
          <a:p>
            <a:pPr marL="0" indent="0">
              <a:buNone/>
            </a:pPr>
            <a:r>
              <a:rPr lang="en-US" sz="4600" b="1" dirty="0">
                <a:solidFill>
                  <a:srgbClr val="FFFFFF"/>
                </a:solidFill>
                <a:latin typeface="Calibri" pitchFamily="34" charset="0"/>
                <a:ea typeface="Calibri" pitchFamily="34" charset="-122"/>
                <a:cs typeface="Calibri" pitchFamily="34" charset="-120"/>
              </a:rPr>
              <a:t>AI-POWERED ECR AGENT</a:t>
            </a:r>
            <a:endParaRPr lang="en-US" sz="4600" dirty="0"/>
          </a:p>
        </p:txBody>
      </p:sp>
      <p:sp>
        <p:nvSpPr>
          <p:cNvPr id="4" name="Text 1"/>
          <p:cNvSpPr txBox="1"/>
          <p:nvPr/>
        </p:nvSpPr>
        <p:spPr>
          <a:xfrm>
            <a:off x="640080" y="3063240"/>
            <a:ext cx="6400800" cy="548640"/>
          </a:xfrm>
          <a:prstGeom prst="rect">
            <a:avLst/>
          </a:prstGeom>
          <a:noFill/>
          <a:ln/>
        </p:spPr>
        <p:txBody>
          <a:bodyPr wrap="square" lIns="0" tIns="0" rIns="0" bIns="0" rtlCol="0" anchor="ctr"/>
          <a:lstStyle/>
          <a:p>
            <a:pPr marL="0" indent="0">
              <a:buNone/>
            </a:pPr>
            <a:endParaRPr lang="en-US" sz="2600" dirty="0"/>
          </a:p>
        </p:txBody>
      </p:sp>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CFE3F5"/>
                </a:solidFill>
                <a:latin typeface="Calibri" pitchFamily="34" charset="0"/>
                <a:ea typeface="Calibri" pitchFamily="34" charset="-122"/>
                <a:cs typeface="Calibri" pitchFamily="34" charset="-120"/>
              </a:rPr>
              <a:t>AI_POWERED ECR AGENT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731520"/>
            <a:ext cx="45720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Agenda</a:t>
            </a:r>
            <a:endParaRPr lang="en-US" sz="4400" dirty="0"/>
          </a:p>
        </p:txBody>
      </p:sp>
      <p:sp>
        <p:nvSpPr>
          <p:cNvPr id="3" name="Shape 1"/>
          <p:cNvSpPr/>
          <p:nvPr/>
        </p:nvSpPr>
        <p:spPr>
          <a:xfrm>
            <a:off x="777240" y="1828800"/>
            <a:ext cx="530352" cy="530352"/>
          </a:xfrm>
          <a:prstGeom prst="ellipse">
            <a:avLst/>
          </a:prstGeom>
          <a:solidFill>
            <a:srgbClr val="0F9F90"/>
          </a:solidFill>
          <a:ln w="12700">
            <a:solidFill>
              <a:srgbClr val="0F9F90"/>
            </a:solidFill>
            <a:prstDash val="solid"/>
          </a:ln>
        </p:spPr>
        <p:txBody>
          <a:bodyPr/>
          <a:lstStyle/>
          <a:p>
            <a:endParaRPr lang="en-US"/>
          </a:p>
        </p:txBody>
      </p:sp>
      <p:sp>
        <p:nvSpPr>
          <p:cNvPr id="4" name="Text 2"/>
          <p:cNvSpPr txBox="1"/>
          <p:nvPr/>
        </p:nvSpPr>
        <p:spPr>
          <a:xfrm>
            <a:off x="777240" y="182880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5" name="Text 3"/>
          <p:cNvSpPr txBox="1"/>
          <p:nvPr/>
        </p:nvSpPr>
        <p:spPr>
          <a:xfrm>
            <a:off x="1554480" y="1828800"/>
            <a:ext cx="6400800" cy="530352"/>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Background &amp; POC Scope</a:t>
            </a:r>
            <a:endParaRPr lang="en-US" sz="2200" dirty="0"/>
          </a:p>
        </p:txBody>
      </p:sp>
      <p:sp>
        <p:nvSpPr>
          <p:cNvPr id="6" name="Shape 4"/>
          <p:cNvSpPr/>
          <p:nvPr/>
        </p:nvSpPr>
        <p:spPr>
          <a:xfrm>
            <a:off x="777240" y="2670048"/>
            <a:ext cx="530352" cy="530352"/>
          </a:xfrm>
          <a:prstGeom prst="ellipse">
            <a:avLst/>
          </a:prstGeom>
          <a:solidFill>
            <a:srgbClr val="0F9F90"/>
          </a:solidFill>
          <a:ln w="12700">
            <a:solidFill>
              <a:srgbClr val="0F9F90"/>
            </a:solidFill>
            <a:prstDash val="solid"/>
          </a:ln>
        </p:spPr>
        <p:txBody>
          <a:bodyPr/>
          <a:lstStyle/>
          <a:p>
            <a:endParaRPr lang="en-US"/>
          </a:p>
        </p:txBody>
      </p:sp>
      <p:sp>
        <p:nvSpPr>
          <p:cNvPr id="7" name="Text 5"/>
          <p:cNvSpPr txBox="1"/>
          <p:nvPr/>
        </p:nvSpPr>
        <p:spPr>
          <a:xfrm>
            <a:off x="777240" y="2670048"/>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8" name="Text 6"/>
          <p:cNvSpPr txBox="1"/>
          <p:nvPr/>
        </p:nvSpPr>
        <p:spPr>
          <a:xfrm>
            <a:off x="1554480" y="2670048"/>
            <a:ext cx="6400800" cy="530352"/>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Technical Details and Block Diagram</a:t>
            </a:r>
            <a:endParaRPr lang="en-US" sz="2200" dirty="0"/>
          </a:p>
        </p:txBody>
      </p:sp>
      <p:sp>
        <p:nvSpPr>
          <p:cNvPr id="9" name="Shape 7"/>
          <p:cNvSpPr/>
          <p:nvPr/>
        </p:nvSpPr>
        <p:spPr>
          <a:xfrm>
            <a:off x="777240" y="3511296"/>
            <a:ext cx="530352" cy="530352"/>
          </a:xfrm>
          <a:prstGeom prst="ellipse">
            <a:avLst/>
          </a:prstGeom>
          <a:solidFill>
            <a:srgbClr val="0F9F90"/>
          </a:solidFill>
          <a:ln w="12700">
            <a:solidFill>
              <a:srgbClr val="0F9F90"/>
            </a:solidFill>
            <a:prstDash val="solid"/>
          </a:ln>
        </p:spPr>
        <p:txBody>
          <a:bodyPr/>
          <a:lstStyle/>
          <a:p>
            <a:endParaRPr lang="en-US"/>
          </a:p>
        </p:txBody>
      </p:sp>
      <p:sp>
        <p:nvSpPr>
          <p:cNvPr id="10" name="Text 8"/>
          <p:cNvSpPr txBox="1"/>
          <p:nvPr/>
        </p:nvSpPr>
        <p:spPr>
          <a:xfrm>
            <a:off x="777240" y="3511296"/>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1" name="Text 9"/>
          <p:cNvSpPr txBox="1"/>
          <p:nvPr/>
        </p:nvSpPr>
        <p:spPr>
          <a:xfrm>
            <a:off x="1554480" y="3511296"/>
            <a:ext cx="6400800" cy="530352"/>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ECR-1 and ECR-2 Analysis</a:t>
            </a:r>
            <a:endParaRPr lang="en-US" sz="2200" dirty="0"/>
          </a:p>
        </p:txBody>
      </p:sp>
      <p:sp>
        <p:nvSpPr>
          <p:cNvPr id="12" name="Shape 10"/>
          <p:cNvSpPr/>
          <p:nvPr/>
        </p:nvSpPr>
        <p:spPr>
          <a:xfrm>
            <a:off x="777240" y="4352544"/>
            <a:ext cx="530352" cy="530352"/>
          </a:xfrm>
          <a:prstGeom prst="ellipse">
            <a:avLst/>
          </a:prstGeom>
          <a:solidFill>
            <a:srgbClr val="0F9F90"/>
          </a:solidFill>
          <a:ln w="12700">
            <a:solidFill>
              <a:srgbClr val="0F9F90"/>
            </a:solidFill>
            <a:prstDash val="solid"/>
          </a:ln>
        </p:spPr>
        <p:txBody>
          <a:bodyPr/>
          <a:lstStyle/>
          <a:p>
            <a:endParaRPr lang="en-US"/>
          </a:p>
        </p:txBody>
      </p:sp>
      <p:sp>
        <p:nvSpPr>
          <p:cNvPr id="13" name="Text 11"/>
          <p:cNvSpPr txBox="1"/>
          <p:nvPr/>
        </p:nvSpPr>
        <p:spPr>
          <a:xfrm>
            <a:off x="777240" y="4352544"/>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4" name="Text 12"/>
          <p:cNvSpPr txBox="1"/>
          <p:nvPr/>
        </p:nvSpPr>
        <p:spPr>
          <a:xfrm>
            <a:off x="1554480" y="4352544"/>
            <a:ext cx="6400800" cy="530352"/>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Demo</a:t>
            </a:r>
            <a:endParaRPr lang="en-US" sz="2200" dirty="0"/>
          </a:p>
        </p:txBody>
      </p:sp>
      <p:sp>
        <p:nvSpPr>
          <p:cNvPr id="15" name="Shape 13"/>
          <p:cNvSpPr/>
          <p:nvPr/>
        </p:nvSpPr>
        <p:spPr>
          <a:xfrm>
            <a:off x="777240" y="5193792"/>
            <a:ext cx="530352" cy="530352"/>
          </a:xfrm>
          <a:prstGeom prst="ellipse">
            <a:avLst/>
          </a:prstGeom>
          <a:solidFill>
            <a:srgbClr val="0F9F90"/>
          </a:solidFill>
          <a:ln w="12700">
            <a:solidFill>
              <a:srgbClr val="0F9F90"/>
            </a:solidFill>
            <a:prstDash val="solid"/>
          </a:ln>
        </p:spPr>
        <p:txBody>
          <a:bodyPr/>
          <a:lstStyle/>
          <a:p>
            <a:endParaRPr lang="en-US"/>
          </a:p>
        </p:txBody>
      </p:sp>
      <p:sp>
        <p:nvSpPr>
          <p:cNvPr id="16" name="Text 14"/>
          <p:cNvSpPr txBox="1"/>
          <p:nvPr/>
        </p:nvSpPr>
        <p:spPr>
          <a:xfrm>
            <a:off x="777240" y="5193792"/>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17" name="Text 15"/>
          <p:cNvSpPr txBox="1"/>
          <p:nvPr/>
        </p:nvSpPr>
        <p:spPr>
          <a:xfrm>
            <a:off x="1554480" y="5193792"/>
            <a:ext cx="6400800" cy="530352"/>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Q&amp;A</a:t>
            </a:r>
            <a:endParaRPr lang="en-US" sz="2200" dirty="0"/>
          </a:p>
        </p:txBody>
      </p:sp>
      <p:sp>
        <p:nvSpPr>
          <p:cNvPr id="18" name="Text 16"/>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CFE3F5"/>
                </a:solidFill>
                <a:latin typeface="Calibri" pitchFamily="34" charset="0"/>
                <a:ea typeface="Calibri" pitchFamily="34" charset="-122"/>
                <a:cs typeface="Calibri" pitchFamily="34" charset="-120"/>
              </a:rPr>
              <a:t>AI_POWERED ECR AGENT</a:t>
            </a:r>
            <a:endParaRPr lang="en-US" sz="950" dirty="0"/>
          </a:p>
        </p:txBody>
      </p:sp>
      <p:sp>
        <p:nvSpPr>
          <p:cNvPr id="19" name="Text 17"/>
          <p:cNvSpPr txBox="1"/>
          <p:nvPr/>
        </p:nvSpPr>
        <p:spPr>
          <a:xfrm>
            <a:off x="3840480" y="6446520"/>
            <a:ext cx="4572000" cy="228600"/>
          </a:xfrm>
          <a:prstGeom prst="rect">
            <a:avLst/>
          </a:prstGeom>
          <a:noFill/>
          <a:ln/>
        </p:spPr>
        <p:txBody>
          <a:bodyPr wrap="square" lIns="0" tIns="0" rIns="0" bIns="0" rtlCol="0" anchor="ctr"/>
          <a:lstStyle/>
          <a:p>
            <a:pPr marL="0" indent="0" algn="ctr">
              <a:buNone/>
            </a:pPr>
            <a:r>
              <a:rPr lang="en-US" sz="950" dirty="0">
                <a:solidFill>
                  <a:srgbClr val="CFE3F5"/>
                </a:solidFill>
                <a:latin typeface="Calibri" pitchFamily="34" charset="0"/>
                <a:ea typeface="Calibri" pitchFamily="34" charset="-122"/>
                <a:cs typeface="Calibri" pitchFamily="34" charset="-120"/>
              </a:rPr>
              <a:t>Capgemini engineering and rail capabilities in India</a:t>
            </a:r>
            <a:endParaRPr lang="en-US" sz="950" dirty="0"/>
          </a:p>
        </p:txBody>
      </p:sp>
      <p:sp>
        <p:nvSpPr>
          <p:cNvPr id="20" name="Text 18"/>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CFE3F5"/>
                </a:solidFill>
                <a:latin typeface="Calibri" pitchFamily="34" charset="0"/>
                <a:ea typeface="Calibri" pitchFamily="34" charset="-122"/>
                <a:cs typeface="Calibri" pitchFamily="34" charset="-120"/>
              </a:rPr>
              <a:t>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200" dirty="0">
                <a:solidFill>
                  <a:srgbClr val="0F9F90"/>
                </a:solidFill>
                <a:latin typeface="Calibri" pitchFamily="34" charset="0"/>
                <a:ea typeface="Calibri" pitchFamily="34" charset="-122"/>
                <a:cs typeface="Calibri" pitchFamily="34" charset="-120"/>
              </a:rPr>
              <a:t>01  |  BACKGROUND &amp; POC SCOPE</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marL="0" indent="0">
              <a:buNone/>
            </a:pPr>
            <a:r>
              <a:rPr lang="en-US" sz="3200" b="1" dirty="0">
                <a:solidFill>
                  <a:srgbClr val="0B1F3A"/>
                </a:solidFill>
                <a:latin typeface="Calibri" pitchFamily="34" charset="0"/>
                <a:ea typeface="Calibri" pitchFamily="34" charset="-122"/>
                <a:cs typeface="Calibri" pitchFamily="34" charset="-120"/>
              </a:rPr>
              <a:t>Problem Statement</a:t>
            </a:r>
            <a:endParaRPr lang="en-US" sz="3200" dirty="0"/>
          </a:p>
        </p:txBody>
      </p:sp>
      <p:pic>
        <p:nvPicPr>
          <p:cNvPr id="4"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5B6678"/>
                </a:solidFill>
                <a:latin typeface="Calibri" pitchFamily="34" charset="0"/>
                <a:ea typeface="Calibri" pitchFamily="34" charset="-122"/>
                <a:cs typeface="Calibri" pitchFamily="34" charset="-120"/>
              </a:rPr>
              <a:t>AI_POWERED ECR AGENT</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5B6678"/>
                </a:solidFill>
                <a:latin typeface="Calibri" pitchFamily="34" charset="0"/>
                <a:ea typeface="Calibri" pitchFamily="34" charset="-122"/>
                <a:cs typeface="Calibri" pitchFamily="34" charset="-120"/>
              </a:rPr>
              <a:t>3 / 10</a:t>
            </a:r>
            <a:endParaRPr lang="en-US" sz="950" dirty="0"/>
          </a:p>
        </p:txBody>
      </p:sp>
      <p:sp>
        <p:nvSpPr>
          <p:cNvPr id="7" name="Text 4"/>
          <p:cNvSpPr txBox="1"/>
          <p:nvPr/>
        </p:nvSpPr>
        <p:spPr>
          <a:xfrm>
            <a:off x="548640" y="1371600"/>
            <a:ext cx="11064240" cy="731520"/>
          </a:xfrm>
          <a:prstGeom prst="rect">
            <a:avLst/>
          </a:prstGeom>
          <a:noFill/>
          <a:ln/>
        </p:spPr>
        <p:txBody>
          <a:bodyPr wrap="square" lIns="0" tIns="0" rIns="0" bIns="0" rtlCol="0" anchor="ctr"/>
          <a:lstStyle/>
          <a:p>
            <a:pPr marL="0" indent="0">
              <a:buNone/>
            </a:pPr>
            <a:r>
              <a:rPr lang="en-US" sz="1500" dirty="0">
                <a:solidFill>
                  <a:srgbClr val="1F2937"/>
                </a:solidFill>
                <a:latin typeface="Calibri" pitchFamily="34" charset="0"/>
                <a:ea typeface="Calibri" pitchFamily="34" charset="-122"/>
                <a:cs typeface="Calibri" pitchFamily="34" charset="-120"/>
              </a:rPr>
              <a:t>When an Engineering Change Request (ECR) arrives - for example ECR-1 (departure test reported as Failed) or ECR-2 (horn state not updating on the Brake/Horn interface screen) - a tester has to work out by hand what it affects and which tests to run.</a:t>
            </a:r>
            <a:endParaRPr lang="en-US" sz="1500" dirty="0"/>
          </a:p>
        </p:txBody>
      </p:sp>
      <p:sp>
        <p:nvSpPr>
          <p:cNvPr id="8" name="Shape 5"/>
          <p:cNvSpPr/>
          <p:nvPr/>
        </p:nvSpPr>
        <p:spPr>
          <a:xfrm>
            <a:off x="548640" y="2286000"/>
            <a:ext cx="5440680" cy="1737360"/>
          </a:xfrm>
          <a:prstGeom prst="roundRect">
            <a:avLst>
              <a:gd name="adj" fmla="val 5263"/>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9" name="Shape 6"/>
          <p:cNvSpPr/>
          <p:nvPr/>
        </p:nvSpPr>
        <p:spPr>
          <a:xfrm>
            <a:off x="822960" y="2578608"/>
            <a:ext cx="420624" cy="420624"/>
          </a:xfrm>
          <a:prstGeom prst="ellipse">
            <a:avLst/>
          </a:prstGeom>
          <a:solidFill>
            <a:srgbClr val="0F9F90"/>
          </a:solidFill>
          <a:ln w="12700">
            <a:solidFill>
              <a:srgbClr val="0F9F90"/>
            </a:solidFill>
            <a:prstDash val="solid"/>
          </a:ln>
        </p:spPr>
        <p:txBody>
          <a:bodyPr/>
          <a:lstStyle/>
          <a:p>
            <a:endParaRPr lang="en-US"/>
          </a:p>
        </p:txBody>
      </p:sp>
      <p:sp>
        <p:nvSpPr>
          <p:cNvPr id="10" name="Text 7"/>
          <p:cNvSpPr txBox="1"/>
          <p:nvPr/>
        </p:nvSpPr>
        <p:spPr>
          <a:xfrm>
            <a:off x="822960" y="257860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1417320" y="2560320"/>
            <a:ext cx="4389120" cy="45720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Information Spread Across Many Sources</a:t>
            </a:r>
            <a:endParaRPr lang="en-US" sz="1700" dirty="0"/>
          </a:p>
        </p:txBody>
      </p:sp>
      <p:sp>
        <p:nvSpPr>
          <p:cNvPr id="12" name="Text 9"/>
          <p:cNvSpPr txBox="1"/>
          <p:nvPr/>
        </p:nvSpPr>
        <p:spPr>
          <a:xfrm>
            <a:off x="1417320" y="3063240"/>
            <a:ext cx="4343400" cy="868680"/>
          </a:xfrm>
          <a:prstGeom prst="rect">
            <a:avLst/>
          </a:prstGeom>
          <a:noFill/>
          <a:ln/>
        </p:spPr>
        <p:txBody>
          <a:bodyPr wrap="square" lIns="0" tIns="0" rIns="0" bIns="0" rtlCol="0" anchor="t"/>
          <a:lstStyle/>
          <a:p>
            <a:pPr marL="0" indent="0">
              <a:buNone/>
            </a:pPr>
            <a:r>
              <a:rPr lang="en-US" sz="1350" dirty="0">
                <a:solidFill>
                  <a:srgbClr val="5B6678"/>
                </a:solidFill>
                <a:latin typeface="Calibri" pitchFamily="34" charset="0"/>
                <a:ea typeface="Calibri" pitchFamily="34" charset="-122"/>
                <a:cs typeface="Calibri" pitchFamily="34" charset="-120"/>
              </a:rPr>
              <a:t>Linked requirements, affected test cases, past defects and attachments sit in different files and tools, so gathering them for a single ECR takes time.</a:t>
            </a:r>
            <a:endParaRPr lang="en-US" sz="1350" dirty="0"/>
          </a:p>
        </p:txBody>
      </p:sp>
      <p:sp>
        <p:nvSpPr>
          <p:cNvPr id="13" name="Shape 10"/>
          <p:cNvSpPr/>
          <p:nvPr/>
        </p:nvSpPr>
        <p:spPr>
          <a:xfrm>
            <a:off x="6172200" y="2286000"/>
            <a:ext cx="5440680" cy="1737360"/>
          </a:xfrm>
          <a:prstGeom prst="roundRect">
            <a:avLst>
              <a:gd name="adj" fmla="val 5263"/>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4" name="Shape 11"/>
          <p:cNvSpPr/>
          <p:nvPr/>
        </p:nvSpPr>
        <p:spPr>
          <a:xfrm>
            <a:off x="6446520" y="2578608"/>
            <a:ext cx="420624" cy="420624"/>
          </a:xfrm>
          <a:prstGeom prst="ellipse">
            <a:avLst/>
          </a:prstGeom>
          <a:solidFill>
            <a:srgbClr val="0F9F90"/>
          </a:solidFill>
          <a:ln w="12700">
            <a:solidFill>
              <a:srgbClr val="0F9F90"/>
            </a:solidFill>
            <a:prstDash val="solid"/>
          </a:ln>
        </p:spPr>
        <p:txBody>
          <a:bodyPr/>
          <a:lstStyle/>
          <a:p>
            <a:endParaRPr lang="en-US"/>
          </a:p>
        </p:txBody>
      </p:sp>
      <p:sp>
        <p:nvSpPr>
          <p:cNvPr id="15" name="Text 12"/>
          <p:cNvSpPr txBox="1"/>
          <p:nvPr/>
        </p:nvSpPr>
        <p:spPr>
          <a:xfrm>
            <a:off x="6446520" y="257860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7040880" y="2560320"/>
            <a:ext cx="4389120" cy="45720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Manual Impact Analysis</a:t>
            </a:r>
            <a:endParaRPr lang="en-US" sz="1700" dirty="0"/>
          </a:p>
        </p:txBody>
      </p:sp>
      <p:sp>
        <p:nvSpPr>
          <p:cNvPr id="17" name="Text 14"/>
          <p:cNvSpPr txBox="1"/>
          <p:nvPr/>
        </p:nvSpPr>
        <p:spPr>
          <a:xfrm>
            <a:off x="7040880" y="3063240"/>
            <a:ext cx="4343400" cy="868680"/>
          </a:xfrm>
          <a:prstGeom prst="rect">
            <a:avLst/>
          </a:prstGeom>
          <a:noFill/>
          <a:ln/>
        </p:spPr>
        <p:txBody>
          <a:bodyPr wrap="square" lIns="0" tIns="0" rIns="0" bIns="0" rtlCol="0" anchor="t"/>
          <a:lstStyle/>
          <a:p>
            <a:pPr marL="0" indent="0">
              <a:buNone/>
            </a:pPr>
            <a:r>
              <a:rPr lang="en-US" sz="1350" dirty="0">
                <a:solidFill>
                  <a:srgbClr val="5B6678"/>
                </a:solidFill>
                <a:latin typeface="Calibri" pitchFamily="34" charset="0"/>
                <a:ea typeface="Calibri" pitchFamily="34" charset="-122"/>
                <a:cs typeface="Calibri" pitchFamily="34" charset="-120"/>
              </a:rPr>
              <a:t>Working out which onboard components an ECR touches (such as the Departure Test Module for ECR-1) depends on memory and experience.</a:t>
            </a:r>
            <a:endParaRPr lang="en-US" sz="1350" dirty="0"/>
          </a:p>
        </p:txBody>
      </p:sp>
      <p:sp>
        <p:nvSpPr>
          <p:cNvPr id="18" name="Shape 15"/>
          <p:cNvSpPr/>
          <p:nvPr/>
        </p:nvSpPr>
        <p:spPr>
          <a:xfrm>
            <a:off x="548640" y="4251960"/>
            <a:ext cx="5440680" cy="1737360"/>
          </a:xfrm>
          <a:prstGeom prst="roundRect">
            <a:avLst>
              <a:gd name="adj" fmla="val 5263"/>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9" name="Shape 16"/>
          <p:cNvSpPr/>
          <p:nvPr/>
        </p:nvSpPr>
        <p:spPr>
          <a:xfrm>
            <a:off x="822960" y="4544568"/>
            <a:ext cx="420624" cy="420624"/>
          </a:xfrm>
          <a:prstGeom prst="ellipse">
            <a:avLst/>
          </a:prstGeom>
          <a:solidFill>
            <a:srgbClr val="0F9F90"/>
          </a:solidFill>
          <a:ln w="12700">
            <a:solidFill>
              <a:srgbClr val="0F9F90"/>
            </a:solidFill>
            <a:prstDash val="solid"/>
          </a:ln>
        </p:spPr>
        <p:txBody>
          <a:bodyPr/>
          <a:lstStyle/>
          <a:p>
            <a:endParaRPr lang="en-US"/>
          </a:p>
        </p:txBody>
      </p:sp>
      <p:sp>
        <p:nvSpPr>
          <p:cNvPr id="20" name="Text 17"/>
          <p:cNvSpPr txBox="1"/>
          <p:nvPr/>
        </p:nvSpPr>
        <p:spPr>
          <a:xfrm>
            <a:off x="822960" y="45445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1417320" y="4526280"/>
            <a:ext cx="4389120" cy="45720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Unclear Test Scope</a:t>
            </a:r>
            <a:endParaRPr lang="en-US" sz="1700" dirty="0"/>
          </a:p>
        </p:txBody>
      </p:sp>
      <p:sp>
        <p:nvSpPr>
          <p:cNvPr id="22" name="Text 19"/>
          <p:cNvSpPr txBox="1"/>
          <p:nvPr/>
        </p:nvSpPr>
        <p:spPr>
          <a:xfrm>
            <a:off x="1417320" y="5029200"/>
            <a:ext cx="4343400" cy="868680"/>
          </a:xfrm>
          <a:prstGeom prst="rect">
            <a:avLst/>
          </a:prstGeom>
          <a:noFill/>
          <a:ln/>
        </p:spPr>
        <p:txBody>
          <a:bodyPr wrap="square" lIns="0" tIns="0" rIns="0" bIns="0" rtlCol="0" anchor="t"/>
          <a:lstStyle/>
          <a:p>
            <a:pPr marL="0" indent="0">
              <a:buNone/>
            </a:pPr>
            <a:r>
              <a:rPr lang="en-US" sz="1350" dirty="0">
                <a:solidFill>
                  <a:srgbClr val="5B6678"/>
                </a:solidFill>
                <a:latin typeface="Calibri" pitchFamily="34" charset="0"/>
                <a:ea typeface="Calibri" pitchFamily="34" charset="-122"/>
                <a:cs typeface="Calibri" pitchFamily="34" charset="-120"/>
              </a:rPr>
              <a:t>Without a clear, ordered test list, teams either miss key tests or re-run far more than needed.</a:t>
            </a:r>
            <a:endParaRPr lang="en-US" sz="1350" dirty="0"/>
          </a:p>
        </p:txBody>
      </p:sp>
      <p:sp>
        <p:nvSpPr>
          <p:cNvPr id="23" name="Shape 20"/>
          <p:cNvSpPr/>
          <p:nvPr/>
        </p:nvSpPr>
        <p:spPr>
          <a:xfrm>
            <a:off x="6172200" y="4251960"/>
            <a:ext cx="5440680" cy="1737360"/>
          </a:xfrm>
          <a:prstGeom prst="roundRect">
            <a:avLst>
              <a:gd name="adj" fmla="val 5263"/>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24" name="Shape 21"/>
          <p:cNvSpPr/>
          <p:nvPr/>
        </p:nvSpPr>
        <p:spPr>
          <a:xfrm>
            <a:off x="6446520" y="4544568"/>
            <a:ext cx="420624" cy="420624"/>
          </a:xfrm>
          <a:prstGeom prst="ellipse">
            <a:avLst/>
          </a:prstGeom>
          <a:solidFill>
            <a:srgbClr val="0F9F90"/>
          </a:solidFill>
          <a:ln w="12700">
            <a:solidFill>
              <a:srgbClr val="0F9F90"/>
            </a:solidFill>
            <a:prstDash val="solid"/>
          </a:ln>
        </p:spPr>
        <p:txBody>
          <a:bodyPr/>
          <a:lstStyle/>
          <a:p>
            <a:endParaRPr lang="en-US"/>
          </a:p>
        </p:txBody>
      </p:sp>
      <p:sp>
        <p:nvSpPr>
          <p:cNvPr id="25" name="Text 22"/>
          <p:cNvSpPr txBox="1"/>
          <p:nvPr/>
        </p:nvSpPr>
        <p:spPr>
          <a:xfrm>
            <a:off x="6446520" y="45445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7040880" y="4526280"/>
            <a:ext cx="4389120" cy="45720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Need for an Intelligent Agent</a:t>
            </a:r>
            <a:endParaRPr lang="en-US" sz="1700" dirty="0"/>
          </a:p>
        </p:txBody>
      </p:sp>
      <p:sp>
        <p:nvSpPr>
          <p:cNvPr id="27" name="Text 24"/>
          <p:cNvSpPr txBox="1"/>
          <p:nvPr/>
        </p:nvSpPr>
        <p:spPr>
          <a:xfrm>
            <a:off x="7040880" y="5029200"/>
            <a:ext cx="4343400" cy="868680"/>
          </a:xfrm>
          <a:prstGeom prst="rect">
            <a:avLst/>
          </a:prstGeom>
          <a:noFill/>
          <a:ln/>
        </p:spPr>
        <p:txBody>
          <a:bodyPr wrap="square" lIns="0" tIns="0" rIns="0" bIns="0" rtlCol="0" anchor="t"/>
          <a:lstStyle/>
          <a:p>
            <a:pPr marL="0" indent="0">
              <a:buNone/>
            </a:pPr>
            <a:r>
              <a:rPr lang="en-US" sz="1350" dirty="0">
                <a:solidFill>
                  <a:srgbClr val="5B6678"/>
                </a:solidFill>
                <a:latin typeface="Calibri" pitchFamily="34" charset="0"/>
                <a:ea typeface="Calibri" pitchFamily="34" charset="-122"/>
                <a:cs typeface="Calibri" pitchFamily="34" charset="-120"/>
              </a:rPr>
              <a:t>An AI agent that reads one ECR, uses only its own data and explains what to test can save time and reduce errors.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200" dirty="0">
                <a:solidFill>
                  <a:srgbClr val="0F9F90"/>
                </a:solidFill>
                <a:latin typeface="Calibri" pitchFamily="34" charset="0"/>
                <a:ea typeface="Calibri" pitchFamily="34" charset="-122"/>
                <a:cs typeface="Calibri" pitchFamily="34" charset="-120"/>
              </a:rPr>
              <a:t>01  |  BACKGROUND &amp; POC SCOPE</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marL="0" indent="0">
              <a:buNone/>
            </a:pPr>
            <a:r>
              <a:rPr lang="en-US" sz="3200" b="1" dirty="0">
                <a:solidFill>
                  <a:srgbClr val="0B1F3A"/>
                </a:solidFill>
                <a:latin typeface="Calibri" pitchFamily="34" charset="0"/>
                <a:ea typeface="Calibri" pitchFamily="34" charset="-122"/>
                <a:cs typeface="Calibri" pitchFamily="34" charset="-120"/>
              </a:rPr>
              <a:t>POC Objectives</a:t>
            </a:r>
            <a:endParaRPr lang="en-US" sz="3200" dirty="0"/>
          </a:p>
        </p:txBody>
      </p:sp>
      <p:pic>
        <p:nvPicPr>
          <p:cNvPr id="4"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5B6678"/>
                </a:solidFill>
                <a:latin typeface="Calibri" pitchFamily="34" charset="0"/>
                <a:ea typeface="Calibri" pitchFamily="34" charset="-122"/>
                <a:cs typeface="Calibri" pitchFamily="34" charset="-120"/>
              </a:rPr>
              <a:t>AI_POWERED ECR AGENT</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5B6678"/>
                </a:solidFill>
                <a:latin typeface="Calibri" pitchFamily="34" charset="0"/>
                <a:ea typeface="Calibri" pitchFamily="34" charset="-122"/>
                <a:cs typeface="Calibri" pitchFamily="34" charset="-120"/>
              </a:rPr>
              <a:t>4 / 10</a:t>
            </a:r>
            <a:endParaRPr lang="en-US" sz="950" dirty="0"/>
          </a:p>
        </p:txBody>
      </p:sp>
      <p:sp>
        <p:nvSpPr>
          <p:cNvPr id="7" name="Shape 4"/>
          <p:cNvSpPr/>
          <p:nvPr/>
        </p:nvSpPr>
        <p:spPr>
          <a:xfrm>
            <a:off x="548640" y="1600200"/>
            <a:ext cx="2651760" cy="4526280"/>
          </a:xfrm>
          <a:prstGeom prst="roundRect">
            <a:avLst>
              <a:gd name="adj" fmla="val 3448"/>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8" name="Shape 5"/>
          <p:cNvSpPr/>
          <p:nvPr/>
        </p:nvSpPr>
        <p:spPr>
          <a:xfrm>
            <a:off x="822960" y="1920240"/>
            <a:ext cx="566928" cy="566928"/>
          </a:xfrm>
          <a:prstGeom prst="ellipse">
            <a:avLst/>
          </a:prstGeom>
          <a:solidFill>
            <a:srgbClr val="F5A524"/>
          </a:solidFill>
          <a:ln w="12700">
            <a:solidFill>
              <a:srgbClr val="F5A524"/>
            </a:solidFill>
            <a:prstDash val="solid"/>
          </a:ln>
        </p:spPr>
        <p:txBody>
          <a:bodyPr/>
          <a:lstStyle/>
          <a:p>
            <a:endParaRPr lang="en-US"/>
          </a:p>
        </p:txBody>
      </p:sp>
      <p:sp>
        <p:nvSpPr>
          <p:cNvPr id="9" name="Text 6"/>
          <p:cNvSpPr txBox="1"/>
          <p:nvPr/>
        </p:nvSpPr>
        <p:spPr>
          <a:xfrm>
            <a:off x="822960" y="1920240"/>
            <a:ext cx="566928" cy="566928"/>
          </a:xfrm>
          <a:prstGeom prst="rect">
            <a:avLst/>
          </a:prstGeom>
          <a:noFill/>
          <a:ln/>
        </p:spPr>
        <p:txBody>
          <a:bodyPr wrap="square" lIns="0" tIns="0" rIns="0" bIns="0"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822960" y="2651760"/>
            <a:ext cx="2103120" cy="100584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ECR Analysis Agent</a:t>
            </a:r>
            <a:endParaRPr lang="en-US" sz="1800" dirty="0"/>
          </a:p>
        </p:txBody>
      </p:sp>
      <p:sp>
        <p:nvSpPr>
          <p:cNvPr id="11" name="Text 8"/>
          <p:cNvSpPr txBox="1"/>
          <p:nvPr/>
        </p:nvSpPr>
        <p:spPr>
          <a:xfrm>
            <a:off x="822960" y="3703320"/>
            <a:ext cx="2103120" cy="2286000"/>
          </a:xfrm>
          <a:prstGeom prst="rect">
            <a:avLst/>
          </a:prstGeom>
          <a:noFill/>
          <a:ln/>
        </p:spPr>
        <p:txBody>
          <a:bodyPr wrap="square" lIns="0" tIns="0" rIns="0" bIns="0" rtlCol="0" anchor="t"/>
          <a:lstStyle/>
          <a:p>
            <a:pPr marL="0" indent="0">
              <a:spcAft>
                <a:spcPts val="400"/>
              </a:spcAft>
              <a:buNone/>
            </a:pPr>
            <a:r>
              <a:rPr lang="en-US" sz="1400" dirty="0">
                <a:solidFill>
                  <a:srgbClr val="5B6678"/>
                </a:solidFill>
                <a:latin typeface="Calibri" pitchFamily="34" charset="0"/>
                <a:ea typeface="Calibri" pitchFamily="34" charset="-122"/>
                <a:cs typeface="Calibri" pitchFamily="34" charset="-120"/>
              </a:rPr>
              <a:t>Develop an AI agent that, given an ECR ID:</a:t>
            </a:r>
            <a:endParaRPr lang="en-US" sz="1400" dirty="0"/>
          </a:p>
          <a:p>
            <a:pPr marL="342900" indent="-342900">
              <a:spcAft>
                <a:spcPts val="400"/>
              </a:spcAft>
              <a:buSzPct val="100000"/>
              <a:buChar char="•"/>
            </a:pPr>
            <a:r>
              <a:rPr lang="en-US" sz="1400" dirty="0">
                <a:solidFill>
                  <a:srgbClr val="5B6678"/>
                </a:solidFill>
                <a:latin typeface="Calibri" pitchFamily="34" charset="0"/>
                <a:ea typeface="Calibri" pitchFamily="34" charset="-122"/>
                <a:cs typeface="Calibri" pitchFamily="34" charset="-120"/>
              </a:rPr>
              <a:t>Gathers its linked requirements, test cases and attachments, finds the impacted components and recommends an ordered test list (P0-P3), each test with a reason.</a:t>
            </a:r>
            <a:endParaRPr lang="en-US" sz="1400" dirty="0"/>
          </a:p>
        </p:txBody>
      </p:sp>
      <p:sp>
        <p:nvSpPr>
          <p:cNvPr id="12" name="Shape 9"/>
          <p:cNvSpPr/>
          <p:nvPr/>
        </p:nvSpPr>
        <p:spPr>
          <a:xfrm>
            <a:off x="3383280" y="1600200"/>
            <a:ext cx="2651760" cy="4526280"/>
          </a:xfrm>
          <a:prstGeom prst="roundRect">
            <a:avLst>
              <a:gd name="adj" fmla="val 3448"/>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3" name="Shape 10"/>
          <p:cNvSpPr/>
          <p:nvPr/>
        </p:nvSpPr>
        <p:spPr>
          <a:xfrm>
            <a:off x="3657600" y="1920240"/>
            <a:ext cx="566928" cy="566928"/>
          </a:xfrm>
          <a:prstGeom prst="ellipse">
            <a:avLst/>
          </a:prstGeom>
          <a:solidFill>
            <a:srgbClr val="F5A524"/>
          </a:solidFill>
          <a:ln w="12700">
            <a:solidFill>
              <a:srgbClr val="F5A524"/>
            </a:solidFill>
            <a:prstDash val="solid"/>
          </a:ln>
        </p:spPr>
        <p:txBody>
          <a:bodyPr/>
          <a:lstStyle/>
          <a:p>
            <a:endParaRPr lang="en-US"/>
          </a:p>
        </p:txBody>
      </p:sp>
      <p:sp>
        <p:nvSpPr>
          <p:cNvPr id="14" name="Text 11"/>
          <p:cNvSpPr txBox="1"/>
          <p:nvPr/>
        </p:nvSpPr>
        <p:spPr>
          <a:xfrm>
            <a:off x="3657600" y="1920240"/>
            <a:ext cx="566928" cy="566928"/>
          </a:xfrm>
          <a:prstGeom prst="rect">
            <a:avLst/>
          </a:prstGeom>
          <a:noFill/>
          <a:ln/>
        </p:spPr>
        <p:txBody>
          <a:bodyPr wrap="square" lIns="0" tIns="0" rIns="0" bIns="0"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3657600" y="2651760"/>
            <a:ext cx="2103120" cy="100584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ECR-Scoped Results</a:t>
            </a:r>
            <a:endParaRPr lang="en-US" sz="1800" dirty="0"/>
          </a:p>
        </p:txBody>
      </p:sp>
      <p:sp>
        <p:nvSpPr>
          <p:cNvPr id="16" name="Text 13"/>
          <p:cNvSpPr txBox="1"/>
          <p:nvPr/>
        </p:nvSpPr>
        <p:spPr>
          <a:xfrm>
            <a:off x="3657600" y="3703320"/>
            <a:ext cx="2103120" cy="2286000"/>
          </a:xfrm>
          <a:prstGeom prst="rect">
            <a:avLst/>
          </a:prstGeom>
          <a:noFill/>
          <a:ln/>
        </p:spPr>
        <p:txBody>
          <a:bodyPr wrap="square" lIns="0" tIns="0" rIns="0" bIns="0" rtlCol="0" anchor="t"/>
          <a:lstStyle/>
          <a:p>
            <a:pPr marL="0" indent="0">
              <a:spcAft>
                <a:spcPts val="400"/>
              </a:spcAft>
              <a:buNone/>
            </a:pPr>
            <a:r>
              <a:rPr lang="en-US" sz="1400" dirty="0">
                <a:solidFill>
                  <a:srgbClr val="5B6678"/>
                </a:solidFill>
                <a:latin typeface="Calibri" pitchFamily="34" charset="0"/>
                <a:ea typeface="Calibri" pitchFamily="34" charset="-122"/>
                <a:cs typeface="Calibri" pitchFamily="34" charset="-120"/>
              </a:rPr>
              <a:t>Use only the ECR's own data - for ECR-1: L2R26, L2R35 and 5 test cases; for ECR-2: L2R01, L2R05 and 7 test cases.</a:t>
            </a:r>
            <a:endParaRPr lang="en-US" sz="1400" dirty="0"/>
          </a:p>
        </p:txBody>
      </p:sp>
      <p:sp>
        <p:nvSpPr>
          <p:cNvPr id="17" name="Shape 14"/>
          <p:cNvSpPr/>
          <p:nvPr/>
        </p:nvSpPr>
        <p:spPr>
          <a:xfrm>
            <a:off x="6217920" y="1600200"/>
            <a:ext cx="2651760" cy="4526280"/>
          </a:xfrm>
          <a:prstGeom prst="roundRect">
            <a:avLst>
              <a:gd name="adj" fmla="val 3448"/>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8" name="Shape 15"/>
          <p:cNvSpPr/>
          <p:nvPr/>
        </p:nvSpPr>
        <p:spPr>
          <a:xfrm>
            <a:off x="6492240" y="1920240"/>
            <a:ext cx="566928" cy="566928"/>
          </a:xfrm>
          <a:prstGeom prst="ellipse">
            <a:avLst/>
          </a:prstGeom>
          <a:solidFill>
            <a:srgbClr val="F5A524"/>
          </a:solidFill>
          <a:ln w="12700">
            <a:solidFill>
              <a:srgbClr val="F5A524"/>
            </a:solidFill>
            <a:prstDash val="solid"/>
          </a:ln>
        </p:spPr>
        <p:txBody>
          <a:bodyPr/>
          <a:lstStyle/>
          <a:p>
            <a:endParaRPr lang="en-US"/>
          </a:p>
        </p:txBody>
      </p:sp>
      <p:sp>
        <p:nvSpPr>
          <p:cNvPr id="19" name="Text 16"/>
          <p:cNvSpPr txBox="1"/>
          <p:nvPr/>
        </p:nvSpPr>
        <p:spPr>
          <a:xfrm>
            <a:off x="6492240" y="1920240"/>
            <a:ext cx="566928" cy="566928"/>
          </a:xfrm>
          <a:prstGeom prst="rect">
            <a:avLst/>
          </a:prstGeom>
          <a:noFill/>
          <a:ln/>
        </p:spPr>
        <p:txBody>
          <a:bodyPr wrap="square" lIns="0" tIns="0" rIns="0" bIns="0"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3</a:t>
            </a:r>
            <a:endParaRPr lang="en-US" sz="1800" dirty="0"/>
          </a:p>
        </p:txBody>
      </p:sp>
      <p:sp>
        <p:nvSpPr>
          <p:cNvPr id="20" name="Text 17"/>
          <p:cNvSpPr txBox="1"/>
          <p:nvPr/>
        </p:nvSpPr>
        <p:spPr>
          <a:xfrm>
            <a:off x="6492240" y="2651760"/>
            <a:ext cx="2103120" cy="100584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Integration with Capgemini Generative Engine Platform</a:t>
            </a:r>
            <a:endParaRPr lang="en-US" sz="1800" dirty="0"/>
          </a:p>
        </p:txBody>
      </p:sp>
      <p:sp>
        <p:nvSpPr>
          <p:cNvPr id="21" name="Text 18"/>
          <p:cNvSpPr txBox="1"/>
          <p:nvPr/>
        </p:nvSpPr>
        <p:spPr>
          <a:xfrm>
            <a:off x="6492240" y="3703320"/>
            <a:ext cx="2103120" cy="2286000"/>
          </a:xfrm>
          <a:prstGeom prst="rect">
            <a:avLst/>
          </a:prstGeom>
          <a:noFill/>
          <a:ln/>
        </p:spPr>
        <p:txBody>
          <a:bodyPr wrap="square" lIns="0" tIns="0" rIns="0" bIns="0" rtlCol="0" anchor="t"/>
          <a:lstStyle/>
          <a:p>
            <a:pPr marL="0" indent="0">
              <a:spcAft>
                <a:spcPts val="400"/>
              </a:spcAft>
              <a:buNone/>
            </a:pPr>
            <a:r>
              <a:rPr lang="en-US" sz="1400" dirty="0">
                <a:solidFill>
                  <a:srgbClr val="5B6678"/>
                </a:solidFill>
                <a:latin typeface="Calibri" pitchFamily="34" charset="0"/>
                <a:ea typeface="Calibri" pitchFamily="34" charset="-122"/>
                <a:cs typeface="Calibri" pitchFamily="34" charset="-120"/>
              </a:rPr>
              <a:t>Validate three short AI calls per analysis through the GEP, with a rule-based fallback if it is unavailable.</a:t>
            </a:r>
            <a:endParaRPr lang="en-US" sz="1400" dirty="0"/>
          </a:p>
        </p:txBody>
      </p:sp>
      <p:sp>
        <p:nvSpPr>
          <p:cNvPr id="22" name="Shape 19"/>
          <p:cNvSpPr/>
          <p:nvPr/>
        </p:nvSpPr>
        <p:spPr>
          <a:xfrm>
            <a:off x="9052560" y="1600200"/>
            <a:ext cx="2651760" cy="4526280"/>
          </a:xfrm>
          <a:prstGeom prst="roundRect">
            <a:avLst>
              <a:gd name="adj" fmla="val 3448"/>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23" name="Shape 20"/>
          <p:cNvSpPr/>
          <p:nvPr/>
        </p:nvSpPr>
        <p:spPr>
          <a:xfrm>
            <a:off x="9326880" y="1920240"/>
            <a:ext cx="566928" cy="566928"/>
          </a:xfrm>
          <a:prstGeom prst="ellipse">
            <a:avLst/>
          </a:prstGeom>
          <a:solidFill>
            <a:srgbClr val="F5A524"/>
          </a:solidFill>
          <a:ln w="12700">
            <a:solidFill>
              <a:srgbClr val="F5A524"/>
            </a:solidFill>
            <a:prstDash val="solid"/>
          </a:ln>
        </p:spPr>
        <p:txBody>
          <a:bodyPr/>
          <a:lstStyle/>
          <a:p>
            <a:endParaRPr lang="en-US"/>
          </a:p>
        </p:txBody>
      </p:sp>
      <p:sp>
        <p:nvSpPr>
          <p:cNvPr id="24" name="Text 21"/>
          <p:cNvSpPr txBox="1"/>
          <p:nvPr/>
        </p:nvSpPr>
        <p:spPr>
          <a:xfrm>
            <a:off x="9326880" y="1920240"/>
            <a:ext cx="566928" cy="566928"/>
          </a:xfrm>
          <a:prstGeom prst="rect">
            <a:avLst/>
          </a:prstGeom>
          <a:noFill/>
          <a:ln/>
        </p:spPr>
        <p:txBody>
          <a:bodyPr wrap="square" lIns="0" tIns="0" rIns="0" bIns="0"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4</a:t>
            </a:r>
            <a:endParaRPr lang="en-US" sz="1800" dirty="0"/>
          </a:p>
        </p:txBody>
      </p:sp>
      <p:sp>
        <p:nvSpPr>
          <p:cNvPr id="25" name="Text 22"/>
          <p:cNvSpPr txBox="1"/>
          <p:nvPr/>
        </p:nvSpPr>
        <p:spPr>
          <a:xfrm>
            <a:off x="9326880" y="2651760"/>
            <a:ext cx="2103120" cy="100584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Human in the Loop</a:t>
            </a:r>
            <a:endParaRPr lang="en-US" sz="1800" dirty="0"/>
          </a:p>
        </p:txBody>
      </p:sp>
      <p:sp>
        <p:nvSpPr>
          <p:cNvPr id="26" name="Text 23"/>
          <p:cNvSpPr txBox="1"/>
          <p:nvPr/>
        </p:nvSpPr>
        <p:spPr>
          <a:xfrm>
            <a:off x="9326880" y="3703320"/>
            <a:ext cx="2103120" cy="2286000"/>
          </a:xfrm>
          <a:prstGeom prst="rect">
            <a:avLst/>
          </a:prstGeom>
          <a:noFill/>
          <a:ln/>
        </p:spPr>
        <p:txBody>
          <a:bodyPr wrap="square" lIns="0" tIns="0" rIns="0" bIns="0" rtlCol="0" anchor="t"/>
          <a:lstStyle/>
          <a:p>
            <a:pPr marL="0" indent="0">
              <a:spcAft>
                <a:spcPts val="400"/>
              </a:spcAft>
              <a:buNone/>
            </a:pPr>
            <a:r>
              <a:rPr lang="en-US" sz="1400" dirty="0">
                <a:solidFill>
                  <a:srgbClr val="5B6678"/>
                </a:solidFill>
                <a:latin typeface="Calibri" pitchFamily="34" charset="0"/>
                <a:ea typeface="Calibri" pitchFamily="34" charset="-122"/>
                <a:cs typeface="Calibri" pitchFamily="34" charset="-120"/>
              </a:rPr>
              <a:t>Let a tester approve or reject the analysis before the report is published, and ask follow-up questions about the ECR.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200" dirty="0">
                <a:solidFill>
                  <a:srgbClr val="0F9F90"/>
                </a:solidFill>
                <a:latin typeface="Calibri" pitchFamily="34" charset="0"/>
                <a:ea typeface="Calibri" pitchFamily="34" charset="-122"/>
                <a:cs typeface="Calibri" pitchFamily="34" charset="-120"/>
              </a:rPr>
              <a:t>02  |  TECHNICAL DETAILS AND BLOCK DIAGRAM</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marL="0" indent="0">
              <a:buNone/>
            </a:pPr>
            <a:r>
              <a:rPr lang="en-US" sz="3200" b="1" dirty="0">
                <a:solidFill>
                  <a:srgbClr val="0B1F3A"/>
                </a:solidFill>
                <a:latin typeface="Calibri" pitchFamily="34" charset="0"/>
                <a:ea typeface="Calibri" pitchFamily="34" charset="-122"/>
                <a:cs typeface="Calibri" pitchFamily="34" charset="-120"/>
              </a:rPr>
              <a:t>Proposed Solution</a:t>
            </a:r>
            <a:endParaRPr lang="en-US" sz="3200" dirty="0"/>
          </a:p>
        </p:txBody>
      </p:sp>
      <p:pic>
        <p:nvPicPr>
          <p:cNvPr id="4"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5B6678"/>
                </a:solidFill>
                <a:latin typeface="Calibri" pitchFamily="34" charset="0"/>
                <a:ea typeface="Calibri" pitchFamily="34" charset="-122"/>
                <a:cs typeface="Calibri" pitchFamily="34" charset="-120"/>
              </a:rPr>
              <a:t>AI_POWERED ECR AGENT</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5B6678"/>
                </a:solidFill>
                <a:latin typeface="Calibri" pitchFamily="34" charset="0"/>
                <a:ea typeface="Calibri" pitchFamily="34" charset="-122"/>
                <a:cs typeface="Calibri" pitchFamily="34" charset="-120"/>
              </a:rPr>
              <a:t>5 / 10</a:t>
            </a:r>
            <a:endParaRPr lang="en-US" sz="950" dirty="0"/>
          </a:p>
        </p:txBody>
      </p:sp>
      <p:sp>
        <p:nvSpPr>
          <p:cNvPr id="7" name="Shape 4"/>
          <p:cNvSpPr/>
          <p:nvPr/>
        </p:nvSpPr>
        <p:spPr>
          <a:xfrm>
            <a:off x="548640" y="1508760"/>
            <a:ext cx="384048" cy="384048"/>
          </a:xfrm>
          <a:prstGeom prst="ellipse">
            <a:avLst/>
          </a:prstGeom>
          <a:solidFill>
            <a:srgbClr val="0F9F90"/>
          </a:solidFill>
          <a:ln w="12700">
            <a:solidFill>
              <a:srgbClr val="0F9F90"/>
            </a:solidFill>
            <a:prstDash val="solid"/>
          </a:ln>
        </p:spPr>
        <p:txBody>
          <a:bodyPr/>
          <a:lstStyle/>
          <a:p>
            <a:endParaRPr lang="en-US"/>
          </a:p>
        </p:txBody>
      </p:sp>
      <p:sp>
        <p:nvSpPr>
          <p:cNvPr id="8" name="Text 5"/>
          <p:cNvSpPr txBox="1"/>
          <p:nvPr/>
        </p:nvSpPr>
        <p:spPr>
          <a:xfrm>
            <a:off x="548640" y="15087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097280" y="1463040"/>
            <a:ext cx="4754880" cy="4114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Web-Based User Interface</a:t>
            </a:r>
            <a:endParaRPr lang="en-US" sz="1700" dirty="0"/>
          </a:p>
        </p:txBody>
      </p:sp>
      <p:sp>
        <p:nvSpPr>
          <p:cNvPr id="10" name="Text 7"/>
          <p:cNvSpPr txBox="1"/>
          <p:nvPr/>
        </p:nvSpPr>
        <p:spPr>
          <a:xfrm>
            <a:off x="1097280" y="1874520"/>
            <a:ext cx="4754880" cy="74980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Testers pick ECR-1 or ECR-2 and press Analyze; the page shows live progress, results in simple tables and Ask a Question.</a:t>
            </a:r>
            <a:endParaRPr lang="en-US" sz="1300" dirty="0"/>
          </a:p>
        </p:txBody>
      </p:sp>
      <p:sp>
        <p:nvSpPr>
          <p:cNvPr id="11" name="Shape 8"/>
          <p:cNvSpPr/>
          <p:nvPr/>
        </p:nvSpPr>
        <p:spPr>
          <a:xfrm>
            <a:off x="548640" y="2715768"/>
            <a:ext cx="384048" cy="384048"/>
          </a:xfrm>
          <a:prstGeom prst="ellipse">
            <a:avLst/>
          </a:prstGeom>
          <a:solidFill>
            <a:srgbClr val="0F9F90"/>
          </a:solidFill>
          <a:ln w="12700">
            <a:solidFill>
              <a:srgbClr val="0F9F90"/>
            </a:solidFill>
            <a:prstDash val="solid"/>
          </a:ln>
        </p:spPr>
        <p:txBody>
          <a:bodyPr/>
          <a:lstStyle/>
          <a:p>
            <a:endParaRPr lang="en-US"/>
          </a:p>
        </p:txBody>
      </p:sp>
      <p:sp>
        <p:nvSpPr>
          <p:cNvPr id="12" name="Text 9"/>
          <p:cNvSpPr txBox="1"/>
          <p:nvPr/>
        </p:nvSpPr>
        <p:spPr>
          <a:xfrm>
            <a:off x="548640" y="27157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097280" y="2670048"/>
            <a:ext cx="4754880" cy="4114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FastAPI Backend Service</a:t>
            </a:r>
            <a:endParaRPr lang="en-US" sz="1700" dirty="0"/>
          </a:p>
        </p:txBody>
      </p:sp>
      <p:sp>
        <p:nvSpPr>
          <p:cNvPr id="14" name="Text 11"/>
          <p:cNvSpPr txBox="1"/>
          <p:nvPr/>
        </p:nvSpPr>
        <p:spPr>
          <a:xfrm>
            <a:off x="1097280" y="3081528"/>
            <a:ext cx="4754880" cy="74980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Checks each request, starts the analysis, handles the optional human approval and builds the report.</a:t>
            </a:r>
            <a:endParaRPr lang="en-US" sz="1300" dirty="0"/>
          </a:p>
        </p:txBody>
      </p:sp>
      <p:sp>
        <p:nvSpPr>
          <p:cNvPr id="15" name="Shape 12"/>
          <p:cNvSpPr/>
          <p:nvPr/>
        </p:nvSpPr>
        <p:spPr>
          <a:xfrm>
            <a:off x="548640" y="3922776"/>
            <a:ext cx="384048" cy="384048"/>
          </a:xfrm>
          <a:prstGeom prst="ellipse">
            <a:avLst/>
          </a:prstGeom>
          <a:solidFill>
            <a:srgbClr val="0F9F90"/>
          </a:solidFill>
          <a:ln w="12700">
            <a:solidFill>
              <a:srgbClr val="0F9F90"/>
            </a:solidFill>
            <a:prstDash val="solid"/>
          </a:ln>
        </p:spPr>
        <p:txBody>
          <a:bodyPr/>
          <a:lstStyle/>
          <a:p>
            <a:endParaRPr lang="en-US"/>
          </a:p>
        </p:txBody>
      </p:sp>
      <p:sp>
        <p:nvSpPr>
          <p:cNvPr id="16" name="Text 13"/>
          <p:cNvSpPr txBox="1"/>
          <p:nvPr/>
        </p:nvSpPr>
        <p:spPr>
          <a:xfrm>
            <a:off x="548640" y="39227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097280" y="3877056"/>
            <a:ext cx="4754880" cy="4114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Three-Agent Workflow</a:t>
            </a:r>
            <a:endParaRPr lang="en-US" sz="1700" dirty="0"/>
          </a:p>
        </p:txBody>
      </p:sp>
      <p:sp>
        <p:nvSpPr>
          <p:cNvPr id="18" name="Text 15"/>
          <p:cNvSpPr txBox="1"/>
          <p:nvPr/>
        </p:nvSpPr>
        <p:spPr>
          <a:xfrm>
            <a:off x="1097280" y="4288536"/>
            <a:ext cx="4754880" cy="74980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Retrieval, Correlation and Summarization agents run 5 steps using only the ECR's own requirements, tests and evidence.</a:t>
            </a:r>
            <a:endParaRPr lang="en-US" sz="1300" dirty="0"/>
          </a:p>
        </p:txBody>
      </p:sp>
      <p:sp>
        <p:nvSpPr>
          <p:cNvPr id="19" name="Shape 16"/>
          <p:cNvSpPr/>
          <p:nvPr/>
        </p:nvSpPr>
        <p:spPr>
          <a:xfrm>
            <a:off x="548640" y="5129784"/>
            <a:ext cx="384048" cy="384048"/>
          </a:xfrm>
          <a:prstGeom prst="ellipse">
            <a:avLst/>
          </a:prstGeom>
          <a:solidFill>
            <a:srgbClr val="0F9F90"/>
          </a:solidFill>
          <a:ln w="12700">
            <a:solidFill>
              <a:srgbClr val="0F9F90"/>
            </a:solidFill>
            <a:prstDash val="solid"/>
          </a:ln>
        </p:spPr>
        <p:txBody>
          <a:bodyPr/>
          <a:lstStyle/>
          <a:p>
            <a:endParaRPr lang="en-US"/>
          </a:p>
        </p:txBody>
      </p:sp>
      <p:sp>
        <p:nvSpPr>
          <p:cNvPr id="20" name="Text 17"/>
          <p:cNvSpPr txBox="1"/>
          <p:nvPr/>
        </p:nvSpPr>
        <p:spPr>
          <a:xfrm>
            <a:off x="548640" y="5129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097280" y="5084064"/>
            <a:ext cx="4754880" cy="4114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Generative Engine Platform Integration</a:t>
            </a:r>
            <a:endParaRPr lang="en-US" sz="1700" dirty="0"/>
          </a:p>
        </p:txBody>
      </p:sp>
      <p:sp>
        <p:nvSpPr>
          <p:cNvPr id="22" name="Text 19"/>
          <p:cNvSpPr txBox="1"/>
          <p:nvPr/>
        </p:nvSpPr>
        <p:spPr>
          <a:xfrm>
            <a:off x="1097280" y="5495544"/>
            <a:ext cx="4754880" cy="74980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Sends short, ECR-only requests to Capgemini's GEP and returns AI-written explanations, with a rule-based fallback.</a:t>
            </a:r>
            <a:endParaRPr lang="en-US" sz="1300" dirty="0"/>
          </a:p>
        </p:txBody>
      </p:sp>
      <p:sp>
        <p:nvSpPr>
          <p:cNvPr id="23" name="Shape 20"/>
          <p:cNvSpPr/>
          <p:nvPr/>
        </p:nvSpPr>
        <p:spPr>
          <a:xfrm>
            <a:off x="6172200" y="1417320"/>
            <a:ext cx="5440680" cy="4846320"/>
          </a:xfrm>
          <a:prstGeom prst="roundRect">
            <a:avLst>
              <a:gd name="adj" fmla="val 1887"/>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pic>
        <p:nvPicPr>
          <p:cNvPr id="24" name="Image 1" descr="C:\Users\aatmakur\Documents\ecr_assistant_ui\docs\ECR-High-Level-Diagram.png"/>
          <p:cNvPicPr>
            <a:picLocks noChangeAspect="1"/>
          </p:cNvPicPr>
          <p:nvPr/>
        </p:nvPicPr>
        <p:blipFill>
          <a:blip r:embed="rId5"/>
          <a:stretch>
            <a:fillRect/>
          </a:stretch>
        </p:blipFill>
        <p:spPr>
          <a:xfrm>
            <a:off x="6398722" y="1554480"/>
            <a:ext cx="4987636" cy="4572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200" dirty="0">
                <a:solidFill>
                  <a:srgbClr val="0F9F90"/>
                </a:solidFill>
                <a:latin typeface="Calibri" pitchFamily="34" charset="0"/>
                <a:ea typeface="Calibri" pitchFamily="34" charset="-122"/>
                <a:cs typeface="Calibri" pitchFamily="34" charset="-120"/>
              </a:rPr>
              <a:t>02  |  TECHNICAL DETAILS AND BLOCK DIAGRAM</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marL="0" indent="0">
              <a:buNone/>
            </a:pPr>
            <a:r>
              <a:rPr lang="en-US" sz="3200" b="1" dirty="0">
                <a:solidFill>
                  <a:srgbClr val="0B1F3A"/>
                </a:solidFill>
                <a:latin typeface="Calibri" pitchFamily="34" charset="0"/>
                <a:ea typeface="Calibri" pitchFamily="34" charset="-122"/>
                <a:cs typeface="Calibri" pitchFamily="34" charset="-120"/>
              </a:rPr>
              <a:t>Technical Architecture Overview</a:t>
            </a:r>
            <a:endParaRPr lang="en-US" sz="3200" dirty="0"/>
          </a:p>
        </p:txBody>
      </p:sp>
      <p:pic>
        <p:nvPicPr>
          <p:cNvPr id="4"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5B6678"/>
                </a:solidFill>
                <a:latin typeface="Calibri" pitchFamily="34" charset="0"/>
                <a:ea typeface="Calibri" pitchFamily="34" charset="-122"/>
                <a:cs typeface="Calibri" pitchFamily="34" charset="-120"/>
              </a:rPr>
              <a:t>AI_POWERED ECR AGENT</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5B6678"/>
                </a:solidFill>
                <a:latin typeface="Calibri" pitchFamily="34" charset="0"/>
                <a:ea typeface="Calibri" pitchFamily="34" charset="-122"/>
                <a:cs typeface="Calibri" pitchFamily="34" charset="-120"/>
              </a:rPr>
              <a:t>6 / 10</a:t>
            </a:r>
            <a:endParaRPr lang="en-US" sz="950" dirty="0"/>
          </a:p>
        </p:txBody>
      </p:sp>
      <p:sp>
        <p:nvSpPr>
          <p:cNvPr id="7" name="Text 4"/>
          <p:cNvSpPr txBox="1"/>
          <p:nvPr/>
        </p:nvSpPr>
        <p:spPr>
          <a:xfrm>
            <a:off x="548640" y="1298448"/>
            <a:ext cx="11064240" cy="868680"/>
          </a:xfrm>
          <a:prstGeom prst="rect">
            <a:avLst/>
          </a:prstGeom>
          <a:noFill/>
          <a:ln/>
        </p:spPr>
        <p:txBody>
          <a:bodyPr wrap="square" lIns="0" tIns="0" rIns="0" bIns="0" rtlCol="0" anchor="t"/>
          <a:lstStyle/>
          <a:p>
            <a:pPr marL="0" indent="0">
              <a:spcAft>
                <a:spcPts val="200"/>
              </a:spcAft>
              <a:buNone/>
            </a:pPr>
            <a:r>
              <a:rPr lang="en-US" sz="1350" dirty="0">
                <a:solidFill>
                  <a:srgbClr val="1F2937"/>
                </a:solidFill>
                <a:latin typeface="Calibri" pitchFamily="34" charset="0"/>
                <a:ea typeface="Calibri" pitchFamily="34" charset="-122"/>
                <a:cs typeface="Calibri" pitchFamily="34" charset="-120"/>
              </a:rPr>
              <a:t>A tester opens ECR-1 or ECR-2 and presses Analyze; the web app sends the request to the FastAPI backend, which starts three AI agents.</a:t>
            </a:r>
            <a:endParaRPr lang="en-US" sz="1350" dirty="0"/>
          </a:p>
          <a:p>
            <a:pPr marL="0" indent="0">
              <a:spcAft>
                <a:spcPts val="200"/>
              </a:spcAft>
              <a:buNone/>
            </a:pPr>
            <a:r>
              <a:rPr lang="en-US" sz="1350" dirty="0">
                <a:solidFill>
                  <a:srgbClr val="1F2937"/>
                </a:solidFill>
                <a:latin typeface="Calibri" pitchFamily="34" charset="0"/>
                <a:ea typeface="Calibri" pitchFamily="34" charset="-122"/>
                <a:cs typeface="Calibri" pitchFamily="34" charset="-120"/>
              </a:rPr>
              <a:t>The agents run five steps on that ECR's own data, using Capgemini's GEP for three short AI calls; a person can optionally approve the result.</a:t>
            </a:r>
            <a:endParaRPr lang="en-US" sz="1350" dirty="0"/>
          </a:p>
          <a:p>
            <a:pPr marL="0" indent="0">
              <a:spcAft>
                <a:spcPts val="200"/>
              </a:spcAft>
              <a:buNone/>
            </a:pPr>
            <a:r>
              <a:rPr lang="en-US" sz="1350" dirty="0">
                <a:solidFill>
                  <a:srgbClr val="1F2937"/>
                </a:solidFill>
                <a:latin typeface="Calibri" pitchFamily="34" charset="0"/>
                <a:ea typeface="Calibri" pitchFamily="34" charset="-122"/>
                <a:cs typeface="Calibri" pitchFamily="34" charset="-120"/>
              </a:rPr>
              <a:t>ECR-1 gets 5 recommended tests and ECR-2 gets 7, each from its own test cases.</a:t>
            </a:r>
            <a:endParaRPr lang="en-US" sz="1350" dirty="0"/>
          </a:p>
        </p:txBody>
      </p:sp>
      <p:sp>
        <p:nvSpPr>
          <p:cNvPr id="8" name="Shape 5"/>
          <p:cNvSpPr/>
          <p:nvPr/>
        </p:nvSpPr>
        <p:spPr>
          <a:xfrm>
            <a:off x="1124560" y="2212848"/>
            <a:ext cx="9942576" cy="4160520"/>
          </a:xfrm>
          <a:prstGeom prst="roundRect">
            <a:avLst>
              <a:gd name="adj" fmla="val 2198"/>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pic>
        <p:nvPicPr>
          <p:cNvPr id="9" name="Image 1" descr="C:\Users\aatmakur\AppData\Local\Temp\claude\c--Users-aatmakur-Documents-ecr-assistant-ui\3fc7b192-4246-47bb-a605-09f5e0e8e998\scratchpad\arch_wide.png"/>
          <p:cNvPicPr>
            <a:picLocks noChangeAspect="1"/>
          </p:cNvPicPr>
          <p:nvPr/>
        </p:nvPicPr>
        <p:blipFill>
          <a:blip r:embed="rId5"/>
          <a:stretch>
            <a:fillRect/>
          </a:stretch>
        </p:blipFill>
        <p:spPr>
          <a:xfrm>
            <a:off x="1234288" y="2304288"/>
            <a:ext cx="9723120" cy="3977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377440"/>
            <a:ext cx="7315200" cy="1463040"/>
          </a:xfrm>
          <a:prstGeom prst="rect">
            <a:avLst/>
          </a:prstGeom>
          <a:noFill/>
          <a:ln/>
        </p:spPr>
        <p:txBody>
          <a:bodyPr wrap="square" lIns="0" tIns="0" rIns="0" bIns="0" rtlCol="0" anchor="ctr"/>
          <a:lstStyle/>
          <a:p>
            <a:pPr marL="0" indent="0">
              <a:buNone/>
            </a:pPr>
            <a:r>
              <a:rPr lang="en-US" sz="8000" b="1" dirty="0">
                <a:solidFill>
                  <a:srgbClr val="FFFFFF"/>
                </a:solidFill>
                <a:latin typeface="Calibri" pitchFamily="34" charset="0"/>
                <a:ea typeface="Calibri" pitchFamily="34" charset="-122"/>
                <a:cs typeface="Calibri" pitchFamily="34" charset="-120"/>
              </a:rPr>
              <a:t>DEMO</a:t>
            </a:r>
            <a:endParaRPr lang="en-US" sz="8000" dirty="0"/>
          </a:p>
        </p:txBody>
      </p:sp>
      <p:sp>
        <p:nvSpPr>
          <p:cNvPr id="3" name="Text 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CFE3F5"/>
                </a:solidFill>
                <a:latin typeface="Calibri" pitchFamily="34" charset="0"/>
                <a:ea typeface="Calibri" pitchFamily="34" charset="-122"/>
                <a:cs typeface="Calibri" pitchFamily="34" charset="-120"/>
              </a:rPr>
              <a:t>AI_POWERED ECR AGENT</a:t>
            </a:r>
            <a:endParaRPr lang="en-US" sz="950" dirty="0"/>
          </a:p>
        </p:txBody>
      </p:sp>
      <p:sp>
        <p:nvSpPr>
          <p:cNvPr id="4" name="Text 2"/>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CFE3F5"/>
                </a:solidFill>
                <a:latin typeface="Calibri" pitchFamily="34" charset="0"/>
                <a:ea typeface="Calibri" pitchFamily="34" charset="-122"/>
                <a:cs typeface="Calibri" pitchFamily="34" charset="-120"/>
              </a:rPr>
              <a:t>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200" dirty="0">
                <a:solidFill>
                  <a:srgbClr val="0F9F90"/>
                </a:solidFill>
                <a:latin typeface="Calibri" pitchFamily="34" charset="0"/>
                <a:ea typeface="Calibri" pitchFamily="34" charset="-122"/>
                <a:cs typeface="Calibri" pitchFamily="34" charset="-120"/>
              </a:rPr>
              <a:t>ENHANCEMENTS</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marL="0" indent="0">
              <a:buNone/>
            </a:pPr>
            <a:r>
              <a:rPr lang="en-US" sz="3200" b="1" dirty="0">
                <a:solidFill>
                  <a:srgbClr val="0B1F3A"/>
                </a:solidFill>
                <a:latin typeface="Calibri" pitchFamily="34" charset="0"/>
                <a:ea typeface="Calibri" pitchFamily="34" charset="-122"/>
                <a:cs typeface="Calibri" pitchFamily="34" charset="-120"/>
              </a:rPr>
              <a:t>Future Roadmap</a:t>
            </a:r>
            <a:endParaRPr lang="en-US" sz="3200" dirty="0"/>
          </a:p>
        </p:txBody>
      </p:sp>
      <p:pic>
        <p:nvPicPr>
          <p:cNvPr id="4"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5B6678"/>
                </a:solidFill>
                <a:latin typeface="Calibri" pitchFamily="34" charset="0"/>
                <a:ea typeface="Calibri" pitchFamily="34" charset="-122"/>
                <a:cs typeface="Calibri" pitchFamily="34" charset="-120"/>
              </a:rPr>
              <a:t>AI_POWERED ECR AGENT</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5B6678"/>
                </a:solidFill>
                <a:latin typeface="Calibri" pitchFamily="34" charset="0"/>
                <a:ea typeface="Calibri" pitchFamily="34" charset="-122"/>
                <a:cs typeface="Calibri" pitchFamily="34" charset="-120"/>
              </a:rPr>
              <a:t>8 / 10</a:t>
            </a:r>
            <a:endParaRPr lang="en-US" sz="950" dirty="0"/>
          </a:p>
        </p:txBody>
      </p:sp>
      <p:sp>
        <p:nvSpPr>
          <p:cNvPr id="7" name="Shape 4"/>
          <p:cNvSpPr/>
          <p:nvPr/>
        </p:nvSpPr>
        <p:spPr>
          <a:xfrm>
            <a:off x="548640" y="1645920"/>
            <a:ext cx="3566160" cy="3840480"/>
          </a:xfrm>
          <a:prstGeom prst="roundRect">
            <a:avLst>
              <a:gd name="adj" fmla="val 2564"/>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8" name="Shape 5"/>
          <p:cNvSpPr/>
          <p:nvPr/>
        </p:nvSpPr>
        <p:spPr>
          <a:xfrm>
            <a:off x="868680" y="1965960"/>
            <a:ext cx="457200" cy="457200"/>
          </a:xfrm>
          <a:prstGeom prst="ellipse">
            <a:avLst/>
          </a:prstGeom>
          <a:solidFill>
            <a:srgbClr val="0F9F90"/>
          </a:solidFill>
          <a:ln w="12700">
            <a:solidFill>
              <a:srgbClr val="0F9F90"/>
            </a:solidFill>
            <a:prstDash val="solid"/>
          </a:ln>
        </p:spPr>
        <p:txBody>
          <a:bodyPr/>
          <a:lstStyle/>
          <a:p>
            <a:endParaRPr lang="en-US"/>
          </a:p>
        </p:txBody>
      </p:sp>
      <p:sp>
        <p:nvSpPr>
          <p:cNvPr id="9" name="Text 6"/>
          <p:cNvSpPr txBox="1"/>
          <p:nvPr/>
        </p:nvSpPr>
        <p:spPr>
          <a:xfrm>
            <a:off x="86868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7"/>
          <p:cNvSpPr txBox="1"/>
          <p:nvPr/>
        </p:nvSpPr>
        <p:spPr>
          <a:xfrm>
            <a:off x="868680" y="2606040"/>
            <a:ext cx="2926080" cy="54864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Live Tool Integration</a:t>
            </a:r>
            <a:endParaRPr lang="en-US" sz="2000" dirty="0"/>
          </a:p>
        </p:txBody>
      </p:sp>
      <p:sp>
        <p:nvSpPr>
          <p:cNvPr id="11" name="Text 8"/>
          <p:cNvSpPr txBox="1"/>
          <p:nvPr/>
        </p:nvSpPr>
        <p:spPr>
          <a:xfrm>
            <a:off x="86868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Read ECRs, requirements and test results directly from the change-tracking and test management tools instead of CSV exports.</a:t>
            </a:r>
            <a:endParaRPr lang="en-US" sz="1500" dirty="0"/>
          </a:p>
        </p:txBody>
      </p:sp>
      <p:sp>
        <p:nvSpPr>
          <p:cNvPr id="12" name="Shape 9"/>
          <p:cNvSpPr/>
          <p:nvPr/>
        </p:nvSpPr>
        <p:spPr>
          <a:xfrm>
            <a:off x="4297680" y="1645920"/>
            <a:ext cx="3566160" cy="3840480"/>
          </a:xfrm>
          <a:prstGeom prst="roundRect">
            <a:avLst>
              <a:gd name="adj" fmla="val 2564"/>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3" name="Shape 10"/>
          <p:cNvSpPr/>
          <p:nvPr/>
        </p:nvSpPr>
        <p:spPr>
          <a:xfrm>
            <a:off x="4617720" y="1965960"/>
            <a:ext cx="457200" cy="457200"/>
          </a:xfrm>
          <a:prstGeom prst="ellipse">
            <a:avLst/>
          </a:prstGeom>
          <a:solidFill>
            <a:srgbClr val="0F9F90"/>
          </a:solidFill>
          <a:ln w="12700">
            <a:solidFill>
              <a:srgbClr val="0F9F90"/>
            </a:solidFill>
            <a:prstDash val="solid"/>
          </a:ln>
        </p:spPr>
        <p:txBody>
          <a:bodyPr/>
          <a:lstStyle/>
          <a:p>
            <a:endParaRPr lang="en-US"/>
          </a:p>
        </p:txBody>
      </p:sp>
      <p:sp>
        <p:nvSpPr>
          <p:cNvPr id="14" name="Text 11"/>
          <p:cNvSpPr txBox="1"/>
          <p:nvPr/>
        </p:nvSpPr>
        <p:spPr>
          <a:xfrm>
            <a:off x="461772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2"/>
          <p:cNvSpPr txBox="1"/>
          <p:nvPr/>
        </p:nvSpPr>
        <p:spPr>
          <a:xfrm>
            <a:off x="4617720" y="2606040"/>
            <a:ext cx="2926080" cy="54864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Test Execution Feedback</a:t>
            </a:r>
            <a:endParaRPr lang="en-US" sz="2000" dirty="0"/>
          </a:p>
        </p:txBody>
      </p:sp>
      <p:sp>
        <p:nvSpPr>
          <p:cNvPr id="16" name="Text 13"/>
          <p:cNvSpPr txBox="1"/>
          <p:nvPr/>
        </p:nvSpPr>
        <p:spPr>
          <a:xfrm>
            <a:off x="461772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Feed the results of the recommended tests for ECRs like ECR-1 and ECR-2 back into the agent to refine test priorities.</a:t>
            </a:r>
            <a:endParaRPr lang="en-US" sz="1500" dirty="0"/>
          </a:p>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Record approvals and rejections to improve future recommendations.</a:t>
            </a:r>
            <a:endParaRPr lang="en-US" sz="1500" dirty="0"/>
          </a:p>
        </p:txBody>
      </p:sp>
      <p:sp>
        <p:nvSpPr>
          <p:cNvPr id="17" name="Shape 14"/>
          <p:cNvSpPr/>
          <p:nvPr/>
        </p:nvSpPr>
        <p:spPr>
          <a:xfrm>
            <a:off x="8046720" y="1645920"/>
            <a:ext cx="3566160" cy="3840480"/>
          </a:xfrm>
          <a:prstGeom prst="roundRect">
            <a:avLst>
              <a:gd name="adj" fmla="val 2564"/>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8" name="Shape 15"/>
          <p:cNvSpPr/>
          <p:nvPr/>
        </p:nvSpPr>
        <p:spPr>
          <a:xfrm>
            <a:off x="8366760" y="1965960"/>
            <a:ext cx="457200" cy="457200"/>
          </a:xfrm>
          <a:prstGeom prst="ellipse">
            <a:avLst/>
          </a:prstGeom>
          <a:solidFill>
            <a:srgbClr val="0F9F90"/>
          </a:solidFill>
          <a:ln w="12700">
            <a:solidFill>
              <a:srgbClr val="0F9F90"/>
            </a:solidFill>
            <a:prstDash val="solid"/>
          </a:ln>
        </p:spPr>
        <p:txBody>
          <a:bodyPr/>
          <a:lstStyle/>
          <a:p>
            <a:endParaRPr lang="en-US"/>
          </a:p>
        </p:txBody>
      </p:sp>
      <p:sp>
        <p:nvSpPr>
          <p:cNvPr id="19" name="Text 16"/>
          <p:cNvSpPr txBox="1"/>
          <p:nvPr/>
        </p:nvSpPr>
        <p:spPr>
          <a:xfrm>
            <a:off x="836676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8366760" y="2606040"/>
            <a:ext cx="2926080" cy="54864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Wider Rollout and Analytics</a:t>
            </a:r>
            <a:endParaRPr lang="en-US" sz="2000" dirty="0"/>
          </a:p>
        </p:txBody>
      </p:sp>
      <p:sp>
        <p:nvSpPr>
          <p:cNvPr id="21" name="Text 18"/>
          <p:cNvSpPr txBox="1"/>
          <p:nvPr/>
        </p:nvSpPr>
        <p:spPr>
          <a:xfrm>
            <a:off x="836676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Extend to more ECRs and builds, with a view of analysis time and test coverage per ECR.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377440"/>
            <a:ext cx="7315200" cy="1463040"/>
          </a:xfrm>
          <a:prstGeom prst="rect">
            <a:avLst/>
          </a:prstGeom>
          <a:noFill/>
          <a:ln/>
        </p:spPr>
        <p:txBody>
          <a:bodyPr wrap="square" lIns="0" tIns="0" rIns="0" bIns="0" rtlCol="0" anchor="ctr"/>
          <a:lstStyle/>
          <a:p>
            <a:pPr marL="0" indent="0">
              <a:buNone/>
            </a:pPr>
            <a:r>
              <a:rPr lang="en-US" sz="8000" b="1" dirty="0">
                <a:solidFill>
                  <a:srgbClr val="FFFFFF"/>
                </a:solidFill>
                <a:latin typeface="Calibri" pitchFamily="34" charset="0"/>
                <a:ea typeface="Calibri" pitchFamily="34" charset="-122"/>
                <a:cs typeface="Calibri" pitchFamily="34" charset="-120"/>
              </a:rPr>
              <a:t>Q &amp; A</a:t>
            </a:r>
            <a:endParaRPr lang="en-US" sz="8000" dirty="0"/>
          </a:p>
        </p:txBody>
      </p:sp>
      <p:sp>
        <p:nvSpPr>
          <p:cNvPr id="3" name="Text 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CFE3F5"/>
                </a:solidFill>
                <a:latin typeface="Calibri" pitchFamily="34" charset="0"/>
                <a:ea typeface="Calibri" pitchFamily="34" charset="-122"/>
                <a:cs typeface="Calibri" pitchFamily="34" charset="-120"/>
              </a:rPr>
              <a:t>AI_POWERED ECR AGENT</a:t>
            </a:r>
            <a:endParaRPr lang="en-US" sz="950" dirty="0"/>
          </a:p>
        </p:txBody>
      </p:sp>
      <p:sp>
        <p:nvSpPr>
          <p:cNvPr id="4" name="Text 2"/>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CFE3F5"/>
                </a:solidFill>
                <a:latin typeface="Calibri" pitchFamily="34" charset="0"/>
                <a:ea typeface="Calibri" pitchFamily="34" charset="-122"/>
                <a:cs typeface="Calibri" pitchFamily="34" charset="-120"/>
              </a:rPr>
              <a:t>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640080" y="548640"/>
            <a:ext cx="3108960" cy="542023"/>
          </a:xfrm>
          <a:prstGeom prst="rect">
            <a:avLst/>
          </a:prstGeom>
        </p:spPr>
      </p:pic>
      <p:sp>
        <p:nvSpPr>
          <p:cNvPr id="3" name="Text 0"/>
          <p:cNvSpPr txBox="1"/>
          <p:nvPr/>
        </p:nvSpPr>
        <p:spPr>
          <a:xfrm>
            <a:off x="640080" y="1737360"/>
            <a:ext cx="64008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About Capgemini</a:t>
            </a:r>
            <a:endParaRPr lang="en-US" sz="3000" dirty="0"/>
          </a:p>
        </p:txBody>
      </p:sp>
      <p:sp>
        <p:nvSpPr>
          <p:cNvPr id="4" name="Text 1"/>
          <p:cNvSpPr txBox="1"/>
          <p:nvPr/>
        </p:nvSpPr>
        <p:spPr>
          <a:xfrm>
            <a:off x="640080" y="2514600"/>
            <a:ext cx="6035040" cy="2743200"/>
          </a:xfrm>
          <a:prstGeom prst="rect">
            <a:avLst/>
          </a:prstGeom>
          <a:noFill/>
          <a:ln/>
        </p:spPr>
        <p:txBody>
          <a:bodyPr wrap="square" lIns="0" tIns="0" rIns="0" bIns="0" rtlCol="0" anchor="t"/>
          <a:lstStyle/>
          <a:p>
            <a:pPr marL="0" indent="0">
              <a:buNone/>
            </a:pPr>
            <a:r>
              <a:rPr lang="en-US" sz="1300" dirty="0">
                <a:solidFill>
                  <a:srgbClr val="CFE3F5"/>
                </a:solidFill>
                <a:latin typeface="Calibri" pitchFamily="34" charset="0"/>
                <a:ea typeface="Calibri" pitchFamily="34" charset="-122"/>
                <a:cs typeface="Calibri" pitchFamily="34" charset="-12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endParaRPr lang="en-US" sz="1300" dirty="0"/>
          </a:p>
        </p:txBody>
      </p:sp>
      <p:sp>
        <p:nvSpPr>
          <p:cNvPr id="5" name="Text 2"/>
          <p:cNvSpPr txBox="1"/>
          <p:nvPr/>
        </p:nvSpPr>
        <p:spPr>
          <a:xfrm>
            <a:off x="640080" y="5440680"/>
            <a:ext cx="548640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Get The Future You Want |  </a:t>
            </a:r>
            <a:r>
              <a:rPr lang="en-US" sz="1300" dirty="0">
                <a:solidFill>
                  <a:srgbClr val="5EEAD4"/>
                </a:solidFill>
                <a:latin typeface="Calibri" pitchFamily="34" charset="0"/>
                <a:ea typeface="Calibri" pitchFamily="34" charset="-122"/>
                <a:cs typeface="Calibri" pitchFamily="34" charset="-120"/>
              </a:rPr>
              <a:t>www.capgemini.com</a:t>
            </a:r>
            <a:endParaRPr lang="en-US" sz="1300" dirty="0"/>
          </a:p>
        </p:txBody>
      </p:sp>
      <p:sp>
        <p:nvSpPr>
          <p:cNvPr id="6" name="Text 3"/>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CFE3F5"/>
                </a:solidFill>
                <a:latin typeface="Calibri" pitchFamily="34" charset="0"/>
                <a:ea typeface="Calibri" pitchFamily="34" charset="-122"/>
                <a:cs typeface="Calibri" pitchFamily="34" charset="-120"/>
              </a:rPr>
              <a:t>AI_POWERED ECR AGENT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8</TotalTime>
  <Words>852</Words>
  <Application>Microsoft Office PowerPoint</Application>
  <PresentationFormat>Widescreen</PresentationFormat>
  <Paragraphs>107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AI_POWERED ECR AGENT</dc:title>
  <dc:subject>PptxGenJS Presentation</dc:subject>
  <dc:creator>PptxGenJS</dc:creator>
  <cp:lastModifiedBy>Atmakuru, Anu Deepthi</cp:lastModifiedBy>
  <cp:revision>2</cp:revision>
  <dcterms:created xsi:type="dcterms:W3CDTF">2026-09-22T16:54:38Z</dcterms:created>
  <dcterms:modified xsi:type="dcterms:W3CDTF">2026-09-22T17:04:07Z</dcterms:modified>
</cp:coreProperties>
</file>